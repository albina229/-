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heme/theme2.xml" ContentType="application/vnd.openxmlformats-officedocument.them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1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7" r:id="rId2"/>
    <p:sldId id="261" r:id="rId3"/>
    <p:sldId id="262" r:id="rId4"/>
    <p:sldId id="263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6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21" d="100"/>
          <a:sy n="121" d="100"/>
        </p:scale>
        <p:origin x="258" y="9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image" Target="../media/image4.png"/><Relationship Id="rId2" Type="http://schemas.openxmlformats.org/officeDocument/2006/relationships/tags" Target="../tags/tag12.xml"/><Relationship Id="rId16" Type="http://schemas.openxmlformats.org/officeDocument/2006/relationships/image" Target="../media/image3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image" Target="../media/image2.png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microsoft.com/office/2007/relationships/hdphoto" Target="../media/hdphoto1.wdp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image" Target="../media/image6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image" Target="../media/image5.png"/><Relationship Id="rId5" Type="http://schemas.openxmlformats.org/officeDocument/2006/relationships/tags" Target="../tags/tag33.xml"/><Relationship Id="rId15" Type="http://schemas.microsoft.com/office/2007/relationships/hdphoto" Target="../media/hdphoto2.wdp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image" Target="../media/image2.png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5" Type="http://schemas.openxmlformats.org/officeDocument/2006/relationships/tags" Target="../tags/tag42.xml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6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13" Type="http://schemas.openxmlformats.org/officeDocument/2006/relationships/slideMaster" Target="../slideMasters/slideMaster1.xml"/><Relationship Id="rId18" Type="http://schemas.openxmlformats.org/officeDocument/2006/relationships/image" Target="../media/image11.png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tags" Target="../tags/tag90.xml"/><Relationship Id="rId17" Type="http://schemas.openxmlformats.org/officeDocument/2006/relationships/image" Target="../media/image4.png"/><Relationship Id="rId2" Type="http://schemas.openxmlformats.org/officeDocument/2006/relationships/tags" Target="../tags/tag80.xml"/><Relationship Id="rId16" Type="http://schemas.openxmlformats.org/officeDocument/2006/relationships/image" Target="../media/image10.png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tags" Target="../tags/tag89.xml"/><Relationship Id="rId5" Type="http://schemas.openxmlformats.org/officeDocument/2006/relationships/tags" Target="../tags/tag83.xml"/><Relationship Id="rId15" Type="http://schemas.microsoft.com/office/2007/relationships/hdphoto" Target="../media/hdphoto3.wdp"/><Relationship Id="rId10" Type="http://schemas.openxmlformats.org/officeDocument/2006/relationships/tags" Target="../tags/tag88.xml"/><Relationship Id="rId19" Type="http://schemas.microsoft.com/office/2007/relationships/hdphoto" Target="../media/hdphoto4.wdp"/><Relationship Id="rId4" Type="http://schemas.openxmlformats.org/officeDocument/2006/relationships/tags" Target="../tags/tag82.xml"/><Relationship Id="rId9" Type="http://schemas.openxmlformats.org/officeDocument/2006/relationships/tags" Target="../tags/tag87.xml"/><Relationship Id="rId1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 userDrawn="1">
            <p:custDataLst>
              <p:tags r:id="rId1"/>
            </p:custDataLst>
          </p:nvPr>
        </p:nvSpPr>
        <p:spPr>
          <a:xfrm>
            <a:off x="0" y="-1"/>
            <a:ext cx="12192000" cy="6858000"/>
          </a:xfrm>
          <a:prstGeom prst="rect">
            <a:avLst/>
          </a:prstGeom>
          <a:gradFill>
            <a:gsLst>
              <a:gs pos="7000">
                <a:schemeClr val="bg1"/>
              </a:gs>
              <a:gs pos="100000">
                <a:schemeClr val="bg2">
                  <a:lumMod val="90000"/>
                </a:schemeClr>
              </a:gs>
              <a:gs pos="43000">
                <a:schemeClr val="bg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838200" y="1080135"/>
            <a:ext cx="5898515" cy="274002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500">
                <a:gradFill>
                  <a:gsLst>
                    <a:gs pos="71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838200" y="3963670"/>
            <a:ext cx="5160645" cy="56642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文本占位符 9"/>
          <p:cNvSpPr txBox="1"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845819" y="637985"/>
            <a:ext cx="2743199" cy="276860"/>
          </a:xfrm>
          <a:noFill/>
        </p:spPr>
        <p:txBody>
          <a:bodyPr wrap="square" rtlCol="0" anchor="t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600" b="0" i="0" u="none" strike="noStrike" kern="1200" cap="none" spc="0" normalizeH="0" baseline="0" noProof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845820" y="4899660"/>
            <a:ext cx="2444115" cy="504190"/>
          </a:xfrm>
          <a:prstGeom prst="roundRect">
            <a:avLst>
              <a:gd name="adj" fmla="val 50000"/>
            </a:avLst>
          </a:prstGeom>
          <a:gradFill>
            <a:gsLst>
              <a:gs pos="6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chemeClr val="bg1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1" name="任意多边形: 形状 20"/>
          <p:cNvSpPr/>
          <p:nvPr userDrawn="1">
            <p:custDataLst>
              <p:tags r:id="rId9"/>
            </p:custDataLst>
          </p:nvPr>
        </p:nvSpPr>
        <p:spPr>
          <a:xfrm rot="1800000">
            <a:off x="7802720" y="2042297"/>
            <a:ext cx="4918716" cy="6479421"/>
          </a:xfrm>
          <a:custGeom>
            <a:avLst/>
            <a:gdLst>
              <a:gd name="connsiteX0" fmla="*/ 108793 w 4918716"/>
              <a:gd name="connsiteY0" fmla="*/ 42142 h 6479421"/>
              <a:gd name="connsiteX1" fmla="*/ 246757 w 4918716"/>
              <a:gd name="connsiteY1" fmla="*/ 0 h 6479421"/>
              <a:gd name="connsiteX2" fmla="*/ 2817393 w 4918716"/>
              <a:gd name="connsiteY2" fmla="*/ 0 h 6479421"/>
              <a:gd name="connsiteX3" fmla="*/ 4918716 w 4918716"/>
              <a:gd name="connsiteY3" fmla="*/ 3639599 h 6479421"/>
              <a:gd name="connsiteX4" fmla="*/ 0 w 4918716"/>
              <a:gd name="connsiteY4" fmla="*/ 6479421 h 6479421"/>
              <a:gd name="connsiteX5" fmla="*/ 0 w 4918716"/>
              <a:gd name="connsiteY5" fmla="*/ 246757 h 6479421"/>
              <a:gd name="connsiteX6" fmla="*/ 108793 w 4918716"/>
              <a:gd name="connsiteY6" fmla="*/ 42142 h 6479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18716" h="6479421">
                <a:moveTo>
                  <a:pt x="108793" y="42142"/>
                </a:moveTo>
                <a:cubicBezTo>
                  <a:pt x="148175" y="15536"/>
                  <a:pt x="195652" y="0"/>
                  <a:pt x="246757" y="0"/>
                </a:cubicBezTo>
                <a:lnTo>
                  <a:pt x="2817393" y="0"/>
                </a:lnTo>
                <a:lnTo>
                  <a:pt x="4918716" y="3639599"/>
                </a:lnTo>
                <a:lnTo>
                  <a:pt x="0" y="6479421"/>
                </a:lnTo>
                <a:lnTo>
                  <a:pt x="0" y="246757"/>
                </a:lnTo>
                <a:cubicBezTo>
                  <a:pt x="1" y="161582"/>
                  <a:pt x="43155" y="86486"/>
                  <a:pt x="108793" y="42142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22225">
            <a:gradFill flip="none" rotWithShape="1">
              <a:gsLst>
                <a:gs pos="0">
                  <a:schemeClr val="bg1"/>
                </a:gs>
                <a:gs pos="56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10"/>
            </p:custDataLst>
          </p:nvPr>
        </p:nvSpPr>
        <p:spPr>
          <a:xfrm rot="19800000" flipV="1">
            <a:off x="11131111" y="-459711"/>
            <a:ext cx="1288604" cy="2053526"/>
          </a:xfrm>
          <a:custGeom>
            <a:avLst/>
            <a:gdLst>
              <a:gd name="connsiteX0" fmla="*/ 0 w 1288604"/>
              <a:gd name="connsiteY0" fmla="*/ 2053526 h 2053526"/>
              <a:gd name="connsiteX1" fmla="*/ 1288604 w 1288604"/>
              <a:gd name="connsiteY1" fmla="*/ 1309550 h 2053526"/>
              <a:gd name="connsiteX2" fmla="*/ 532535 w 1288604"/>
              <a:gd name="connsiteY2" fmla="*/ 0 h 2053526"/>
              <a:gd name="connsiteX3" fmla="*/ 205325 w 1288604"/>
              <a:gd name="connsiteY3" fmla="*/ 0 h 2053526"/>
              <a:gd name="connsiteX4" fmla="*/ 90526 w 1288604"/>
              <a:gd name="connsiteY4" fmla="*/ 35066 h 2053526"/>
              <a:gd name="connsiteX5" fmla="*/ 0 w 1288604"/>
              <a:gd name="connsiteY5" fmla="*/ 205325 h 2053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8604" h="2053526">
                <a:moveTo>
                  <a:pt x="0" y="2053526"/>
                </a:moveTo>
                <a:lnTo>
                  <a:pt x="1288604" y="1309550"/>
                </a:lnTo>
                <a:lnTo>
                  <a:pt x="532535" y="0"/>
                </a:lnTo>
                <a:lnTo>
                  <a:pt x="205325" y="0"/>
                </a:lnTo>
                <a:cubicBezTo>
                  <a:pt x="162801" y="0"/>
                  <a:pt x="123296" y="12927"/>
                  <a:pt x="90526" y="35066"/>
                </a:cubicBezTo>
                <a:cubicBezTo>
                  <a:pt x="35909" y="71965"/>
                  <a:pt x="1" y="134452"/>
                  <a:pt x="0" y="205325"/>
                </a:cubicBezTo>
                <a:close/>
              </a:path>
            </a:pathLst>
          </a:custGeom>
          <a:solidFill>
            <a:schemeClr val="bg1">
              <a:alpha val="26000"/>
            </a:schemeClr>
          </a:solidFill>
          <a:ln w="22225">
            <a:gradFill flip="none" rotWithShape="1">
              <a:gsLst>
                <a:gs pos="0">
                  <a:schemeClr val="bg1"/>
                </a:gs>
                <a:gs pos="37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5">
            <a:alphaModFix amt="41000"/>
          </a:blip>
          <a:srcRect t="47858" r="86828"/>
          <a:stretch>
            <a:fillRect/>
          </a:stretch>
        </p:blipFill>
        <p:spPr>
          <a:xfrm>
            <a:off x="9606280" y="4106545"/>
            <a:ext cx="1995805" cy="250063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230" y="936625"/>
            <a:ext cx="4140835" cy="4845685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47" r="12069" b="64856"/>
          <a:stretch>
            <a:fillRect/>
          </a:stretch>
        </p:blipFill>
        <p:spPr>
          <a:xfrm>
            <a:off x="10121900" y="2568575"/>
            <a:ext cx="1339215" cy="2018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838200" y="220300"/>
            <a:ext cx="10515600" cy="864000"/>
          </a:xfrm>
        </p:spPr>
        <p:txBody>
          <a:bodyPr/>
          <a:lstStyle>
            <a:lvl1pPr algn="l">
              <a:defRPr>
                <a:latin typeface="+mj-lt"/>
                <a:cs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here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0000">
                <a:schemeClr val="bg2">
                  <a:lumMod val="90000"/>
                </a:schemeClr>
              </a:gs>
              <a:gs pos="38000">
                <a:schemeClr val="bg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40105" y="565150"/>
            <a:ext cx="5596255" cy="1081405"/>
          </a:xfrm>
        </p:spPr>
        <p:txBody>
          <a:bodyPr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gradFill>
                  <a:gsLst>
                    <a:gs pos="71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06" t="21656" r="5455"/>
          <a:stretch>
            <a:fillRect/>
          </a:stretch>
        </p:blipFill>
        <p:spPr>
          <a:xfrm>
            <a:off x="8915399" y="0"/>
            <a:ext cx="3276601" cy="281259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245" r="35802"/>
          <a:stretch>
            <a:fillRect/>
          </a:stretch>
        </p:blipFill>
        <p:spPr>
          <a:xfrm>
            <a:off x="9232895" y="370890"/>
            <a:ext cx="1320804" cy="130691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716" b="79078"/>
          <a:stretch>
            <a:fillRect/>
          </a:stretch>
        </p:blipFill>
        <p:spPr>
          <a:xfrm>
            <a:off x="11060495" y="1159069"/>
            <a:ext cx="482604" cy="489843"/>
          </a:xfrm>
          <a:prstGeom prst="rect">
            <a:avLst/>
          </a:prstGeom>
        </p:spPr>
      </p:pic>
      <p:sp>
        <p:nvSpPr>
          <p:cNvPr id="4" name="矩形: 单圆角 6"/>
          <p:cNvSpPr/>
          <p:nvPr userDrawn="1">
            <p:custDataLst>
              <p:tags r:id="rId9"/>
            </p:custDataLst>
          </p:nvPr>
        </p:nvSpPr>
        <p:spPr>
          <a:xfrm>
            <a:off x="2540" y="1845310"/>
            <a:ext cx="12189460" cy="5012690"/>
          </a:xfrm>
          <a:prstGeom prst="round1Rect">
            <a:avLst>
              <a:gd name="adj" fmla="val 17875"/>
            </a:avLst>
          </a:prstGeom>
          <a:solidFill>
            <a:schemeClr val="bg1">
              <a:alpha val="75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 userDrawn="1">
            <p:custDataLst>
              <p:tags r:id="rId1"/>
            </p:custDataLst>
          </p:nvPr>
        </p:nvSpPr>
        <p:spPr>
          <a:xfrm>
            <a:off x="0" y="-1"/>
            <a:ext cx="12192000" cy="6858000"/>
          </a:xfrm>
          <a:prstGeom prst="rect">
            <a:avLst/>
          </a:prstGeom>
          <a:gradFill>
            <a:gsLst>
              <a:gs pos="1000">
                <a:schemeClr val="bg1"/>
              </a:gs>
              <a:gs pos="100000">
                <a:schemeClr val="bg2">
                  <a:lumMod val="90000"/>
                </a:schemeClr>
              </a:gs>
              <a:gs pos="31000">
                <a:schemeClr val="bg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547235" y="2550795"/>
            <a:ext cx="7256780" cy="1613535"/>
          </a:xfrm>
        </p:spPr>
        <p:txBody>
          <a:bodyPr anchor="t" anchorCtr="0">
            <a:normAutofit/>
          </a:bodyPr>
          <a:lstStyle>
            <a:lvl1pPr algn="r">
              <a:defRPr sz="4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/>
              <a:t>Your title here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476240" y="4241165"/>
            <a:ext cx="6327140" cy="935990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+mj-lt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6859905" y="958850"/>
            <a:ext cx="4944110" cy="1591945"/>
          </a:xfrm>
        </p:spPr>
        <p:txBody>
          <a:bodyPr vert="horz" wrap="none" lIns="0" tIns="0" rIns="0" bIns="0" rtlCol="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800" b="1" i="0" u="none" strike="noStrike" kern="1200" cap="none" spc="0" normalizeH="0" baseline="0" noProof="1" dirty="0">
                <a:gradFill>
                  <a:gsLst>
                    <a:gs pos="71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latin typeface="+mn-lt"/>
              </a:defRPr>
            </a:lvl1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8"/>
            </p:custDataLst>
          </p:nvPr>
        </p:nvSpPr>
        <p:spPr>
          <a:xfrm rot="-1800000" flipH="1">
            <a:off x="-507737" y="2042297"/>
            <a:ext cx="4918716" cy="6479421"/>
          </a:xfrm>
          <a:custGeom>
            <a:avLst/>
            <a:gdLst>
              <a:gd name="connsiteX0" fmla="*/ 108793 w 4918716"/>
              <a:gd name="connsiteY0" fmla="*/ 42142 h 6479421"/>
              <a:gd name="connsiteX1" fmla="*/ 246757 w 4918716"/>
              <a:gd name="connsiteY1" fmla="*/ 0 h 6479421"/>
              <a:gd name="connsiteX2" fmla="*/ 2817393 w 4918716"/>
              <a:gd name="connsiteY2" fmla="*/ 0 h 6479421"/>
              <a:gd name="connsiteX3" fmla="*/ 4918716 w 4918716"/>
              <a:gd name="connsiteY3" fmla="*/ 3639599 h 6479421"/>
              <a:gd name="connsiteX4" fmla="*/ 0 w 4918716"/>
              <a:gd name="connsiteY4" fmla="*/ 6479421 h 6479421"/>
              <a:gd name="connsiteX5" fmla="*/ 0 w 4918716"/>
              <a:gd name="connsiteY5" fmla="*/ 246757 h 6479421"/>
              <a:gd name="connsiteX6" fmla="*/ 108793 w 4918716"/>
              <a:gd name="connsiteY6" fmla="*/ 42142 h 6479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18716" h="6479421">
                <a:moveTo>
                  <a:pt x="108793" y="42142"/>
                </a:moveTo>
                <a:cubicBezTo>
                  <a:pt x="148175" y="15536"/>
                  <a:pt x="195652" y="0"/>
                  <a:pt x="246757" y="0"/>
                </a:cubicBezTo>
                <a:lnTo>
                  <a:pt x="2817393" y="0"/>
                </a:lnTo>
                <a:lnTo>
                  <a:pt x="4918716" y="3639599"/>
                </a:lnTo>
                <a:lnTo>
                  <a:pt x="0" y="6479421"/>
                </a:lnTo>
                <a:lnTo>
                  <a:pt x="0" y="246757"/>
                </a:lnTo>
                <a:cubicBezTo>
                  <a:pt x="1" y="161582"/>
                  <a:pt x="43155" y="86486"/>
                  <a:pt x="108793" y="42142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22225">
            <a:gradFill flip="none" rotWithShape="1">
              <a:gsLst>
                <a:gs pos="0">
                  <a:schemeClr val="bg1"/>
                </a:gs>
                <a:gs pos="56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9"/>
            </p:custDataLst>
          </p:nvPr>
        </p:nvSpPr>
        <p:spPr>
          <a:xfrm rot="-1800000" flipV="1">
            <a:off x="11101875" y="-459711"/>
            <a:ext cx="1288604" cy="2053526"/>
          </a:xfrm>
          <a:custGeom>
            <a:avLst/>
            <a:gdLst>
              <a:gd name="connsiteX0" fmla="*/ 0 w 1288604"/>
              <a:gd name="connsiteY0" fmla="*/ 2053526 h 2053526"/>
              <a:gd name="connsiteX1" fmla="*/ 1288604 w 1288604"/>
              <a:gd name="connsiteY1" fmla="*/ 1309550 h 2053526"/>
              <a:gd name="connsiteX2" fmla="*/ 532535 w 1288604"/>
              <a:gd name="connsiteY2" fmla="*/ 0 h 2053526"/>
              <a:gd name="connsiteX3" fmla="*/ 205325 w 1288604"/>
              <a:gd name="connsiteY3" fmla="*/ 0 h 2053526"/>
              <a:gd name="connsiteX4" fmla="*/ 90526 w 1288604"/>
              <a:gd name="connsiteY4" fmla="*/ 35066 h 2053526"/>
              <a:gd name="connsiteX5" fmla="*/ 0 w 1288604"/>
              <a:gd name="connsiteY5" fmla="*/ 205325 h 2053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8604" h="2053526">
                <a:moveTo>
                  <a:pt x="0" y="2053526"/>
                </a:moveTo>
                <a:lnTo>
                  <a:pt x="1288604" y="1309550"/>
                </a:lnTo>
                <a:lnTo>
                  <a:pt x="532535" y="0"/>
                </a:lnTo>
                <a:lnTo>
                  <a:pt x="205325" y="0"/>
                </a:lnTo>
                <a:cubicBezTo>
                  <a:pt x="162801" y="0"/>
                  <a:pt x="123296" y="12927"/>
                  <a:pt x="90526" y="35066"/>
                </a:cubicBezTo>
                <a:cubicBezTo>
                  <a:pt x="35909" y="71965"/>
                  <a:pt x="1" y="134452"/>
                  <a:pt x="0" y="205325"/>
                </a:cubicBezTo>
                <a:close/>
              </a:path>
            </a:pathLst>
          </a:custGeom>
          <a:solidFill>
            <a:schemeClr val="bg1">
              <a:alpha val="26000"/>
            </a:schemeClr>
          </a:solidFill>
          <a:ln w="22225">
            <a:gradFill flip="none" rotWithShape="1">
              <a:gsLst>
                <a:gs pos="0">
                  <a:schemeClr val="bg1"/>
                </a:gs>
                <a:gs pos="37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9" name="图片 28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3">
            <a:alphaModFix amt="22000"/>
          </a:blip>
          <a:srcRect t="47858" r="86828"/>
          <a:stretch>
            <a:fillRect/>
          </a:stretch>
        </p:blipFill>
        <p:spPr>
          <a:xfrm>
            <a:off x="3063875" y="3943350"/>
            <a:ext cx="2066925" cy="258953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31"/>
          <a:stretch>
            <a:fillRect/>
          </a:stretch>
        </p:blipFill>
        <p:spPr>
          <a:xfrm>
            <a:off x="955040" y="876935"/>
            <a:ext cx="4175760" cy="47428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 algn="l"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5325" y="360045"/>
            <a:ext cx="10800080" cy="864235"/>
          </a:xfrm>
        </p:spPr>
        <p:txBody>
          <a:bodyPr vert="horz" lIns="0" tIns="0" rIns="0" bIns="0" rtlCol="0" anchor="ctr">
            <a:normAutofit/>
          </a:bodyPr>
          <a:lstStyle>
            <a:lvl1pPr algn="l"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/>
          <a:lstStyle>
            <a:lvl1pPr algn="l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595" y="360045"/>
            <a:ext cx="10798175" cy="864235"/>
          </a:xfrm>
        </p:spPr>
        <p:txBody>
          <a:bodyPr/>
          <a:lstStyle>
            <a:lvl1pPr algn="l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anchor="t" anchorCtr="0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bg2">
                  <a:lumMod val="90000"/>
                </a:schemeClr>
              </a:gs>
              <a:gs pos="0">
                <a:schemeClr val="bg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0851"/>
          <a:stretch>
            <a:fillRect/>
          </a:stretch>
        </p:blipFill>
        <p:spPr>
          <a:xfrm>
            <a:off x="84239" y="3645603"/>
            <a:ext cx="3743864" cy="3115513"/>
          </a:xfrm>
          <a:prstGeom prst="rect">
            <a:avLst/>
          </a:prstGeom>
        </p:spPr>
      </p:pic>
      <p:sp>
        <p:nvSpPr>
          <p:cNvPr id="21" name="任意多边形: 形状 20"/>
          <p:cNvSpPr/>
          <p:nvPr userDrawn="1">
            <p:custDataLst>
              <p:tags r:id="rId3"/>
            </p:custDataLst>
          </p:nvPr>
        </p:nvSpPr>
        <p:spPr>
          <a:xfrm rot="1800000">
            <a:off x="7802720" y="2042297"/>
            <a:ext cx="4918716" cy="6479421"/>
          </a:xfrm>
          <a:custGeom>
            <a:avLst/>
            <a:gdLst>
              <a:gd name="connsiteX0" fmla="*/ 108793 w 4918716"/>
              <a:gd name="connsiteY0" fmla="*/ 42142 h 6479421"/>
              <a:gd name="connsiteX1" fmla="*/ 246757 w 4918716"/>
              <a:gd name="connsiteY1" fmla="*/ 0 h 6479421"/>
              <a:gd name="connsiteX2" fmla="*/ 2817393 w 4918716"/>
              <a:gd name="connsiteY2" fmla="*/ 0 h 6479421"/>
              <a:gd name="connsiteX3" fmla="*/ 4918716 w 4918716"/>
              <a:gd name="connsiteY3" fmla="*/ 3639599 h 6479421"/>
              <a:gd name="connsiteX4" fmla="*/ 0 w 4918716"/>
              <a:gd name="connsiteY4" fmla="*/ 6479421 h 6479421"/>
              <a:gd name="connsiteX5" fmla="*/ 0 w 4918716"/>
              <a:gd name="connsiteY5" fmla="*/ 246757 h 6479421"/>
              <a:gd name="connsiteX6" fmla="*/ 108793 w 4918716"/>
              <a:gd name="connsiteY6" fmla="*/ 42142 h 6479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18716" h="6479421">
                <a:moveTo>
                  <a:pt x="108793" y="42142"/>
                </a:moveTo>
                <a:cubicBezTo>
                  <a:pt x="148175" y="15536"/>
                  <a:pt x="195652" y="0"/>
                  <a:pt x="246757" y="0"/>
                </a:cubicBezTo>
                <a:lnTo>
                  <a:pt x="2817393" y="0"/>
                </a:lnTo>
                <a:lnTo>
                  <a:pt x="4918716" y="3639599"/>
                </a:lnTo>
                <a:lnTo>
                  <a:pt x="0" y="6479421"/>
                </a:lnTo>
                <a:lnTo>
                  <a:pt x="0" y="246757"/>
                </a:lnTo>
                <a:cubicBezTo>
                  <a:pt x="1" y="161582"/>
                  <a:pt x="43155" y="86486"/>
                  <a:pt x="108793" y="42142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22225">
            <a:gradFill flip="none" rotWithShape="1">
              <a:gsLst>
                <a:gs pos="0">
                  <a:schemeClr val="bg1"/>
                </a:gs>
                <a:gs pos="37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4"/>
            </p:custDataLst>
          </p:nvPr>
        </p:nvSpPr>
        <p:spPr>
          <a:xfrm rot="19800000" flipV="1">
            <a:off x="11131111" y="-459711"/>
            <a:ext cx="1288604" cy="2053526"/>
          </a:xfrm>
          <a:custGeom>
            <a:avLst/>
            <a:gdLst>
              <a:gd name="connsiteX0" fmla="*/ 0 w 1288604"/>
              <a:gd name="connsiteY0" fmla="*/ 2053526 h 2053526"/>
              <a:gd name="connsiteX1" fmla="*/ 1288604 w 1288604"/>
              <a:gd name="connsiteY1" fmla="*/ 1309550 h 2053526"/>
              <a:gd name="connsiteX2" fmla="*/ 532535 w 1288604"/>
              <a:gd name="connsiteY2" fmla="*/ 0 h 2053526"/>
              <a:gd name="connsiteX3" fmla="*/ 205325 w 1288604"/>
              <a:gd name="connsiteY3" fmla="*/ 0 h 2053526"/>
              <a:gd name="connsiteX4" fmla="*/ 90526 w 1288604"/>
              <a:gd name="connsiteY4" fmla="*/ 35066 h 2053526"/>
              <a:gd name="connsiteX5" fmla="*/ 0 w 1288604"/>
              <a:gd name="connsiteY5" fmla="*/ 205325 h 2053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8604" h="2053526">
                <a:moveTo>
                  <a:pt x="0" y="2053526"/>
                </a:moveTo>
                <a:lnTo>
                  <a:pt x="1288604" y="1309550"/>
                </a:lnTo>
                <a:lnTo>
                  <a:pt x="532535" y="0"/>
                </a:lnTo>
                <a:lnTo>
                  <a:pt x="205325" y="0"/>
                </a:lnTo>
                <a:cubicBezTo>
                  <a:pt x="162801" y="0"/>
                  <a:pt x="123296" y="12927"/>
                  <a:pt x="90526" y="35066"/>
                </a:cubicBezTo>
                <a:cubicBezTo>
                  <a:pt x="35909" y="71965"/>
                  <a:pt x="1" y="134452"/>
                  <a:pt x="0" y="205325"/>
                </a:cubicBezTo>
                <a:close/>
              </a:path>
            </a:pathLst>
          </a:custGeom>
          <a:solidFill>
            <a:schemeClr val="bg1">
              <a:alpha val="26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矩形: 圆角 1"/>
          <p:cNvSpPr/>
          <p:nvPr userDrawn="1">
            <p:custDataLst>
              <p:tags r:id="rId5"/>
            </p:custDataLst>
          </p:nvPr>
        </p:nvSpPr>
        <p:spPr>
          <a:xfrm>
            <a:off x="839470" y="1071245"/>
            <a:ext cx="10513060" cy="4691380"/>
          </a:xfrm>
          <a:prstGeom prst="roundRect">
            <a:avLst>
              <a:gd name="adj" fmla="val 10223"/>
            </a:avLst>
          </a:prstGeom>
          <a:solidFill>
            <a:schemeClr val="bg1"/>
          </a:solidFill>
          <a:ln>
            <a:noFill/>
          </a:ln>
          <a:effectLst>
            <a:outerShdw blurRad="254000" dist="254000" dir="2700000" algn="tl" rotWithShape="0">
              <a:schemeClr val="accent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921635" y="1778635"/>
            <a:ext cx="6348730" cy="1800225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6"/>
          <a:srcRect/>
          <a:stretch>
            <a:fillRect/>
          </a:stretch>
        </p:blipFill>
        <p:spPr>
          <a:xfrm>
            <a:off x="9664833" y="521712"/>
            <a:ext cx="2299845" cy="178106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47" r="12069" b="64856"/>
          <a:stretch>
            <a:fillRect/>
          </a:stretch>
        </p:blipFill>
        <p:spPr>
          <a:xfrm rot="16940163">
            <a:off x="990676" y="3913237"/>
            <a:ext cx="1540041" cy="2320296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 rotWithShape="1"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10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245" r="35802"/>
          <a:stretch>
            <a:fillRect/>
          </a:stretch>
        </p:blipFill>
        <p:spPr>
          <a:xfrm>
            <a:off x="932629" y="3141379"/>
            <a:ext cx="1175942" cy="116357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9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Relationship Id="rId22" Type="http://schemas.openxmlformats.org/officeDocument/2006/relationships/tags" Target="../tags/tag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 userDrawn="1">
            <p:custDataLst>
              <p:tags r:id="rId13"/>
            </p:custDataLst>
          </p:nvPr>
        </p:nvSpPr>
        <p:spPr>
          <a:xfrm>
            <a:off x="0" y="-1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40000">
                <a:schemeClr val="bg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62" t="44000" r="10505"/>
          <a:stretch>
            <a:fillRect/>
          </a:stretch>
        </p:blipFill>
        <p:spPr>
          <a:xfrm>
            <a:off x="10553700" y="119037"/>
            <a:ext cx="1638300" cy="155907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 rotWithShape="1">
          <a:blip r:embed="rId24">
            <a:alphaModFix amt="40000"/>
          </a:blip>
          <a:srcRect/>
          <a:stretch>
            <a:fillRect/>
          </a:stretch>
        </p:blipFill>
        <p:spPr>
          <a:xfrm>
            <a:off x="9182100" y="0"/>
            <a:ext cx="1473200" cy="584775"/>
          </a:xfrm>
          <a:prstGeom prst="rect">
            <a:avLst/>
          </a:prstGeom>
        </p:spPr>
      </p:pic>
      <p:sp>
        <p:nvSpPr>
          <p:cNvPr id="8" name="矩形: 单圆角 4"/>
          <p:cNvSpPr/>
          <p:nvPr userDrawn="1">
            <p:custDataLst>
              <p:tags r:id="rId16"/>
            </p:custDataLst>
          </p:nvPr>
        </p:nvSpPr>
        <p:spPr>
          <a:xfrm flipH="1">
            <a:off x="0" y="1117600"/>
            <a:ext cx="12192000" cy="5740399"/>
          </a:xfrm>
          <a:prstGeom prst="round1Rect">
            <a:avLst>
              <a:gd name="adj" fmla="val 6869"/>
            </a:avLst>
          </a:prstGeom>
          <a:solidFill>
            <a:schemeClr val="bg1"/>
          </a:solidFill>
          <a:ln w="22225">
            <a:gradFill flip="none" rotWithShape="1">
              <a:gsLst>
                <a:gs pos="0">
                  <a:schemeClr val="bg1"/>
                </a:gs>
                <a:gs pos="56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9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image" Target="../media/image13.jpe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5" Type="http://schemas.openxmlformats.org/officeDocument/2006/relationships/image" Target="../media/image14.jpe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5" Type="http://schemas.openxmlformats.org/officeDocument/2006/relationships/image" Target="../media/image17.jpe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5" Type="http://schemas.openxmlformats.org/officeDocument/2006/relationships/image" Target="../media/image18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image" Target="../media/image19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5" Type="http://schemas.openxmlformats.org/officeDocument/2006/relationships/image" Target="../media/image22.GIF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5" Type="http://schemas.openxmlformats.org/officeDocument/2006/relationships/image" Target="../media/image23.jpeg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tags" Target="../tags/tag135.xml"/><Relationship Id="rId7" Type="http://schemas.openxmlformats.org/officeDocument/2006/relationships/image" Target="../media/image22.GIF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5" Type="http://schemas.openxmlformats.org/officeDocument/2006/relationships/image" Target="../media/image31.jpeg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59.xml"/><Relationship Id="rId7" Type="http://schemas.openxmlformats.org/officeDocument/2006/relationships/image" Target="../media/image36.png"/><Relationship Id="rId2" Type="http://schemas.openxmlformats.org/officeDocument/2006/relationships/tags" Target="../tags/tag158.xml"/><Relationship Id="rId1" Type="http://schemas.openxmlformats.org/officeDocument/2006/relationships/tags" Target="../tags/tag15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5" Type="http://schemas.openxmlformats.org/officeDocument/2006/relationships/image" Target="../media/image37.jpeg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5" Type="http://schemas.openxmlformats.org/officeDocument/2006/relationships/image" Target="../media/image38.jpeg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5" Type="http://schemas.openxmlformats.org/officeDocument/2006/relationships/image" Target="../media/image39.jpeg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5" Type="http://schemas.openxmlformats.org/officeDocument/2006/relationships/image" Target="../media/image40.jpeg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image" Target="../media/image41.jpe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4" Type="http://schemas.openxmlformats.org/officeDocument/2006/relationships/image" Target="../media/image4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69265" y="2961640"/>
            <a:ext cx="5160645" cy="566420"/>
          </a:xfrm>
        </p:spPr>
        <p:txBody>
          <a:bodyPr>
            <a:noAutofit/>
          </a:bodyPr>
          <a:lstStyle/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Обзор компании, продуктов и рыночных позиций</a:t>
            </a: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469265" y="4120515"/>
            <a:ext cx="2754630" cy="1600200"/>
          </a:xfrm>
        </p:spPr>
        <p:txBody>
          <a:bodyPr>
            <a:normAutofit fontScale="87500" lnSpcReduction="10000"/>
          </a:bodyPr>
          <a:lstStyle/>
          <a:p>
            <a:pPr algn="l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Группа: ИСП-236П</a:t>
            </a:r>
          </a:p>
          <a:p>
            <a:pPr algn="l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Студенты: Красильников Роман, Воронина Вера, Кучумова Альбина и Попов Рушан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469265" y="561975"/>
            <a:ext cx="5898515" cy="1807210"/>
          </a:xfrm>
        </p:spPr>
        <p:txBody>
          <a:bodyPr/>
          <a:lstStyle/>
          <a:p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Cognitive Pilot: Лидер в области ИИ для автономного транспорта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 sz="4800">
                <a:latin typeface="Times New Roman" panose="02020603050405020304" charset="0"/>
                <a:cs typeface="Times New Roman" panose="02020603050405020304" charset="0"/>
              </a:rPr>
              <a:t>Содержание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35305" y="2304415"/>
            <a:ext cx="4271010" cy="4124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Профиль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компании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Ключевые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продукты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технологии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3.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Рыночные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позиции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достижения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4.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География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партнеры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5.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Финансы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инвестиции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6.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Команда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руководство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7.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Конкурентная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среда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8.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Стратегия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планы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215" y="3429000"/>
            <a:ext cx="6619875" cy="23082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Профиль компании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50"/>
            <a:ext cx="5400040" cy="48736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Cognitive Pilot: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Кто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они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?</a:t>
            </a:r>
          </a:p>
          <a:p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dirty="0" err="1" smtClean="0">
                <a:latin typeface="Times New Roman" panose="02020603050405020304" charset="0"/>
                <a:cs typeface="Times New Roman" panose="02020603050405020304" charset="0"/>
              </a:rPr>
              <a:t>Основание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: 2019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год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как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совместное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предприятие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Сбера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и Cognitive Technologies.</a:t>
            </a:r>
          </a:p>
          <a:p>
            <a:r>
              <a:rPr lang="en-US" altLang="en-US" sz="2000" dirty="0" err="1" smtClean="0">
                <a:latin typeface="Times New Roman" panose="02020603050405020304" charset="0"/>
                <a:cs typeface="Times New Roman" panose="02020603050405020304" charset="0"/>
              </a:rPr>
              <a:t>Специализация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Разработка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систем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искусственного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интеллекта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(ИИ)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беспилотных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транспортных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средств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sz="2000" dirty="0" err="1" smtClean="0">
                <a:latin typeface="Times New Roman" panose="02020603050405020304" charset="0"/>
                <a:cs typeface="Times New Roman" panose="02020603050405020304" charset="0"/>
              </a:rPr>
              <a:t>Ключевые</a:t>
            </a: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направления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Сельское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хозяйство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рельсовый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автомобильный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транспорт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инновационные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сенсоры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sz="2000" dirty="0" err="1" smtClean="0">
                <a:latin typeface="Times New Roman" panose="02020603050405020304" charset="0"/>
                <a:cs typeface="Times New Roman" panose="02020603050405020304" charset="0"/>
              </a:rPr>
              <a:t>Головной</a:t>
            </a: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офис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Москва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. </a:t>
            </a:r>
            <a:endParaRPr lang="ru-RU" alt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dirty="0" err="1" smtClean="0">
                <a:latin typeface="Times New Roman" panose="02020603050405020304" charset="0"/>
                <a:cs typeface="Times New Roman" panose="02020603050405020304" charset="0"/>
              </a:rPr>
              <a:t>Производство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Томск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  <p:pic>
        <p:nvPicPr>
          <p:cNvPr id="4" name="Picture 3" descr="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850" y="2167890"/>
            <a:ext cx="5586095" cy="31419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Миссия и ценности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altLang="en-US" sz="2000">
                <a:latin typeface="Times New Roman" panose="02020603050405020304" charset="0"/>
                <a:cs typeface="Times New Roman" panose="02020603050405020304" charset="0"/>
              </a:rPr>
              <a:t>М</a:t>
            </a:r>
            <a:r>
              <a:rPr lang="en-US" altLang="en-US" sz="2000" smtClean="0">
                <a:latin typeface="Times New Roman" panose="02020603050405020304" charset="0"/>
                <a:cs typeface="Times New Roman" panose="02020603050405020304" charset="0"/>
              </a:rPr>
              <a:t>иссия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Глобальные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вызовы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Решение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проблемы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дефицита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кадров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повышение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качества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выполняемой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работы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Технологический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суверенитет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Обеспечение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независимости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критически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важных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отраслей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экономики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Инновации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Создание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технологий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которые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меняют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мир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к </a:t>
            </a:r>
            <a:r>
              <a:rPr lang="en-US" altLang="en-US" sz="2000" dirty="0" err="1">
                <a:latin typeface="Times New Roman" panose="02020603050405020304" charset="0"/>
                <a:cs typeface="Times New Roman" panose="02020603050405020304" charset="0"/>
              </a:rPr>
              <a:t>лучшему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Ключевой продукт: Cognitive Agro 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50"/>
            <a:ext cx="5400040" cy="524446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Автопилот для сельхозтехники</a:t>
            </a:r>
          </a:p>
          <a:p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Назначение: Система автономного управления для тракторов, комбайнов, опрыскивателей.</a:t>
            </a: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Технология: Управление на основе нейросетей глубокого обучения.</a:t>
            </a: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Точность: Выполнение операций с точностью 1-2 см.</a:t>
            </a: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Особенность: Работает в условиях отсутствия GPS и воздействия РЭБ благодаря компьютерному зрению.</a:t>
            </a:r>
          </a:p>
        </p:txBody>
      </p:sp>
      <p:pic>
        <p:nvPicPr>
          <p:cNvPr id="4" name="Picture 3" descr="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645" y="2339340"/>
            <a:ext cx="5633720" cy="316928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Ключевой продукт: Cognitive Tram 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50"/>
            <a:ext cx="5400040" cy="4873625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ИИ-система для рельсового транспорта</a:t>
            </a: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Назначение: Система активной автоматизированной помощи водителю трамвая.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Функционал: Распознавание объектов (автомобили, пешеходы, светофоры), чтение знаков, автоматическое торможение, поддержание дистанции.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Статус: Не полноценный автопилот, но значительно облегчает работу водителя.</a:t>
            </a:r>
          </a:p>
        </p:txBody>
      </p:sp>
      <p:pic>
        <p:nvPicPr>
          <p:cNvPr id="4" name="Picture 3" descr="34g4oe7nwhdeyfbuqqdlkxj0oiiisbiq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8565" y="1301750"/>
            <a:ext cx="4362450" cy="2350770"/>
          </a:xfrm>
          <a:prstGeom prst="rect">
            <a:avLst/>
          </a:prstGeom>
        </p:spPr>
      </p:pic>
      <p:pic>
        <p:nvPicPr>
          <p:cNvPr id="5" name="Picture 4" descr="cp_fb_to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0720" y="4312920"/>
            <a:ext cx="4698365" cy="20624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Ключевой продукт: Робот СИ-ПИ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50"/>
            <a:ext cx="5400040" cy="4873625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Многофункциональная автономная платформа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Описание: Полностью автономный робот высотой 1,5 м.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Применение: Сельхозработы, перевозка багажа в аэропортах, мониторинг утечек метана.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Технологии: Нейросети глубокого обучения, компьютерное зрение, гибридная силовая установка (30/80 л.с.).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Эффективность: Эффективность звена таких мини-тракторов может в 10 раз превышать классическую технику.</a:t>
            </a:r>
          </a:p>
        </p:txBody>
      </p:sp>
      <p:pic>
        <p:nvPicPr>
          <p:cNvPr id="4" name="Picture 3" descr="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490" y="1767205"/>
            <a:ext cx="5328285" cy="39427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Ключевой продукт: Беспилотный мини-трактор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Первый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РФ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полностью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автономный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бескабинный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трактор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Статус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Представлен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Президенту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РФ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январе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2026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года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Задачи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Выполнение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полевых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миссий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инспекция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опасных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объектов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уборка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территории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Заказы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Поступают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от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«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Газпрома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»,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фермеров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садоводов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аэропортов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Планы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Поставка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порядка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10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тысяч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таких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роботов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ближайшие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годы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  <p:pic>
        <p:nvPicPr>
          <p:cNvPr id="4098" name="Picture 2" descr="Следом за пухососами в сети появились «лужесос», «шашлыкомет» и  «эчпочмаковоз» - Лайкни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0" r="4352"/>
          <a:stretch/>
        </p:blipFill>
        <p:spPr bwMode="auto">
          <a:xfrm>
            <a:off x="8081543" y="3980793"/>
            <a:ext cx="3272257" cy="250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Дополнительные продукты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50"/>
            <a:ext cx="5400040" cy="4873625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Расширение линейки решений</a:t>
            </a: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Датчики:</a:t>
            </a: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Датчик контроля глубины заделки семян и комковатости почвы (Cognitive Level Radar).</a:t>
            </a: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Датчик против воровства и «глупости».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Системы мониторинга:</a:t>
            </a: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Cognitive Agro Service — телеметрия полевых работ в режиме онлайн.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Оборудование:</a:t>
            </a: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Универсальная RTK-станция для точного позиционирования.</a:t>
            </a:r>
            <a:endParaRPr lang="ru-RU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655" y="1555750"/>
            <a:ext cx="3571875" cy="4978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Технологическое преимущество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50"/>
            <a:ext cx="5400040" cy="4873625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Почему они лидируют?</a:t>
            </a: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Машинное зрение: Автопилот «видит» поле лучше человека, работает при полной потере связи.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Нейросети: Прорыв в обучении ИИ, ускорение на десятки человеко-лет.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Точность: 1-2 см, что критически важно для сельхозработ.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Отечественная компонентная база: 85% комплектующих — российского производства.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385570"/>
            <a:ext cx="4432300" cy="2247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5745" y="3745865"/>
            <a:ext cx="3994150" cy="30156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Рыночные позиции (Мировые рейтинги)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Признание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глобальном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уровне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Топ-5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мировых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рейтингов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Компания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вошла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топ-5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сразу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девяти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мировых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рейтингов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систем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автопилотирования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сельхозтехники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(2026).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Единственный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представитель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РФ: Cognitive Pilot —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единственная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отечественная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компания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этих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списках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Рейтинг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Stats N Data: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Впервые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вошла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ТОП-5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ведущих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мировых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компаний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2025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году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Сравнение с конкурентами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50"/>
            <a:ext cx="5400040" cy="4873625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Позиция на рынке</a:t>
            </a: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Второе место (2025): В глобальном рейтинге автопилотов для сельхозтехники компания заняла 2-е место, уступив только китайской Comnav Technology.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Соседство с гигантами: В рейтингах соседствует с такими брендами, как John Deere и Case IH.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Ценовое преимущество: Стоимость российского решения в 3-4 раза ниже зарубежных аналогов.</a:t>
            </a:r>
          </a:p>
        </p:txBody>
      </p:sp>
      <p:pic>
        <p:nvPicPr>
          <p:cNvPr id="4" name="Picture 3" descr="L1687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675" y="3259455"/>
            <a:ext cx="5005070" cy="9575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Экономический эффект для клиентов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Что дает их технология?</a:t>
            </a: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Рост производительности: Помогает фермерам повышать производительность на 30–35%.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Круглосуточная работа: Возможность работы 24/7 снижает зависимость от человеческого фактора.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Экономия ресурсов: Снижение расхода топлива, семян и удобрений.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Снижение потерь: Уменьшение потерь урожая до 25% за счет точного контроля глубины сева.</a:t>
            </a:r>
          </a:p>
        </p:txBody>
      </p:sp>
      <p:pic>
        <p:nvPicPr>
          <p:cNvPr id="5122" name="Picture 2" descr="Создать мем «человек с графиком, инвестиции мем» онлайн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485" y="4264573"/>
            <a:ext cx="3046769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География присутствия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Они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работают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всему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миру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Основные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рынки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Россия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страны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СНГ (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Казахстан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Азербайджан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),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Европа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Азия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Латинская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Америка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Экспортные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поставки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Бразилия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ЮАР,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Китай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Южная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Корея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Германия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Франция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США,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Сингапур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Планы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экспансии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Начало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поставок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Казахстан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цель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— 15%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рынка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за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3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года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).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Ключевые партнеры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50"/>
            <a:ext cx="5400040" cy="48736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Стратегические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альянсы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Технологические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партнеры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Сбер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Cognitive Technologies (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основатели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).</a:t>
            </a:r>
          </a:p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Дистрибуция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сельхозтехники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CNH Industrial (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бренды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Case IH, New Holland)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Казахстане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(BHK Agro AG)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Азербайджане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(Grand Motors).</a:t>
            </a:r>
          </a:p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Государственные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партнеры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АО «ГЛОНАСС» (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точность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сигнала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),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Минсельхоз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РФ (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льготное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кредитование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).</a:t>
            </a:r>
          </a:p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Партнеры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промышленности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«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Газпром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»,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Пулково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аэропорт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).</a:t>
            </a:r>
          </a:p>
        </p:txBody>
      </p:sp>
      <p:pic>
        <p:nvPicPr>
          <p:cNvPr id="4" name="Picture 3" descr="18540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128" y="2447903"/>
            <a:ext cx="2286000" cy="342900"/>
          </a:xfrm>
          <a:prstGeom prst="rect">
            <a:avLst/>
          </a:prstGeom>
        </p:spPr>
      </p:pic>
      <p:pic>
        <p:nvPicPr>
          <p:cNvPr id="5" name="Picture 4" descr="278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1128" y="3119098"/>
            <a:ext cx="1950720" cy="1950720"/>
          </a:xfrm>
          <a:prstGeom prst="rect">
            <a:avLst/>
          </a:prstGeom>
        </p:spPr>
      </p:pic>
      <p:pic>
        <p:nvPicPr>
          <p:cNvPr id="7" name="Picture 6" descr="L1687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8493" y="2790803"/>
            <a:ext cx="2190750" cy="419100"/>
          </a:xfrm>
          <a:prstGeom prst="rect">
            <a:avLst/>
          </a:prstGeom>
        </p:spPr>
      </p:pic>
      <p:pic>
        <p:nvPicPr>
          <p:cNvPr id="8" name="Picture 7" descr="glonas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6973" y="3623288"/>
            <a:ext cx="3124835" cy="11715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Проекты и кейсы (2025-2026)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Практическое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применение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Робо-тракторная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станция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Приамурье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Инвестиции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1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млрд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рублей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парк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70-80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тракторов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обработка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15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тыс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Автоматизация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аэропорта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Пулково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Поставка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до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45 ИИ-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роботов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обработки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багажа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уборки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снега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к 2028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году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Трамваи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Минске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Поставка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20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комплексов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автоматизации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трамваев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Трамваи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Санкт-Петербурге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Более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350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трамваев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оборудованы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системой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Cognitive Tram Pilot.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Новости и достижения (2025)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50"/>
            <a:ext cx="5400040" cy="4873625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Хроника событий</a:t>
            </a: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Январь 2025: Впервые вошла в ТОП-5 мировых рейтингов систем автопилотирования для всех классов сельхозтехники.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Март 2025: Правительство и Совфед посетили робофабрику компании в Томске.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Июнь 2025: Привлечен раунд инвестиций в объеме 0,9 млрд рублей.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Сентябрь 2025: Анонсировано создание робо-тракторной станции в Приамурье.</a:t>
            </a:r>
          </a:p>
        </p:txBody>
      </p:sp>
      <p:pic>
        <p:nvPicPr>
          <p:cNvPr id="7" name="Picture 6" descr="plroq63skd8v8jxh9a99x3oflzsl5i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275" y="1405255"/>
            <a:ext cx="4105910" cy="2309495"/>
          </a:xfrm>
          <a:prstGeom prst="rect">
            <a:avLst/>
          </a:prstGeom>
        </p:spPr>
      </p:pic>
      <p:pic>
        <p:nvPicPr>
          <p:cNvPr id="8" name="Picture 7" descr="08neuj2v0n5r5s3he41v5is567kc39a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9180" y="3883025"/>
            <a:ext cx="4213860" cy="28092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Новости и достижения (2026)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50"/>
            <a:ext cx="5400040" cy="4873625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Хроника событий</a:t>
            </a: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Февраль 2026: Вошла в топ-5 девяти мировых рейтингов систем автопилотирования сельхозтехники.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Апрель 2026: Представлены роботы для уборки площадок городских перевозчиков (стоимость ~4,7 млн руб.).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Август 2026: Анонсирован выход на рынок Казахстана с умными системами для тракторов.</a:t>
            </a:r>
          </a:p>
        </p:txBody>
      </p:sp>
      <p:pic>
        <p:nvPicPr>
          <p:cNvPr id="4" name="Picture 3" descr="j6igua8dgby5gz6u80yfzxpoo3ak9ns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540" y="1301750"/>
            <a:ext cx="4415790" cy="2454910"/>
          </a:xfrm>
          <a:prstGeom prst="rect">
            <a:avLst/>
          </a:prstGeom>
        </p:spPr>
      </p:pic>
      <p:pic>
        <p:nvPicPr>
          <p:cNvPr id="6" name="Picture 5" descr="0ea1r5l9x859eqejlsyhym43stn9w07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3310" y="4051300"/>
            <a:ext cx="4261485" cy="23971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Производство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Робофабрика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Томске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Уникальность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Первое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России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одно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из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немногих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мире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предприятий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где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промышленных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масштабах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выпускается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продукция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основе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беспилотного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транспорта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Кадровый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потенциал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Максимально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используется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научный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кадровый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потенциал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Томской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области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Локализация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85%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комплектующих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—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отечественного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производства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Финансирование и инвестиции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Привлечение капитала</a:t>
            </a: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Раунд инвестиций (2025): 0,9 млрд рублей от ведущего российского венчурного фонда.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Инвесторы: Газпромбанк (вошел в капитал в 2022 г.).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Цель инвестиций: Масштабирование, увеличение продаж, выход на новые рынки, подготовка к IPO.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Планы: Проведение IPO на горизонте 3-4 лет.</a:t>
            </a:r>
          </a:p>
        </p:txBody>
      </p:sp>
      <p:pic>
        <p:nvPicPr>
          <p:cNvPr id="3074" name="Picture 2" descr="Создать мем &quot;бешеные зайцы, финансовый кризис кролик, бешеные кролики  мультфильм&quot; - Картинки - Meme-arsenal.co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485" y="3773082"/>
            <a:ext cx="2895051" cy="290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Бизнес-модель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Как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они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зарабатывают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?</a:t>
            </a:r>
          </a:p>
          <a:p>
            <a:pPr marL="0" indent="0">
              <a:buNone/>
            </a:pP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Продажа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продуктов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Автопилоты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датчики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роботы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Сервисная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модель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(РТС):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Концепция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«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роботизированных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тракторных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станций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» —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продажа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моточасов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Преимущество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модели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Снижает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порог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входа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малых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средних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хозяйств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Льготное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кредитование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Совместная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программа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с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Газпромбанком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Минсельхозом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Команда и руководство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50"/>
            <a:ext cx="5400040" cy="48736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Кто стоит за компанией</a:t>
            </a: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Ольга Ускова: Генеральный директор, основатель и президент группы компаний Cognitive Technologies.</a:t>
            </a:r>
          </a:p>
          <a:p>
            <a:pPr marL="742950" lvl="1" indent="-285750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Известный предприниматель, входила в число наиболее влиятельных предпринимателей России по версии Forbes.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Антон Емельянов: Управляющий партнер, технический директор.</a:t>
            </a:r>
          </a:p>
          <a:p>
            <a:pPr marL="742950" lvl="1" indent="-285750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Инициатор создания команды по разработке ИИ для беспилотного транспорта (2012).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Команда: Программисты, математики, инженеры в Москве, Томске и Чебоксарах.</a:t>
            </a:r>
          </a:p>
        </p:txBody>
      </p:sp>
      <p:pic>
        <p:nvPicPr>
          <p:cNvPr id="4" name="Picture 3" descr="2b5354b6-5437-4744-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985" y="1231900"/>
            <a:ext cx="3966210" cy="2643505"/>
          </a:xfrm>
          <a:prstGeom prst="rect">
            <a:avLst/>
          </a:prstGeom>
        </p:spPr>
      </p:pic>
      <p:pic>
        <p:nvPicPr>
          <p:cNvPr id="5" name="Picture 4" descr="36p9Tw5D6-anton-emelyanov----tehnicheskii-direktor-i-soosnovatel-kompanii-cognitive-pilot-na-vystavke-yugagro-20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0580" y="4145280"/>
            <a:ext cx="4283075" cy="24091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Конкурентная среда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50"/>
            <a:ext cx="5400040" cy="5212080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Ключевые игроки рынка</a:t>
            </a: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Прямые конкуренты (мировые):</a:t>
            </a: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Comnav Technology (Китай) — лидер рынка.</a:t>
            </a: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John Deere (США) — гигант сельхозтехники.</a:t>
            </a: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Case IH (США) — крупный производитель.</a:t>
            </a: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FieldBee (Нидерланды), eSurvey GNSS (Китай).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Российские конкуренты:</a:t>
            </a: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«Ростсельмаш» (разработка собственного беспилотника).</a:t>
            </a: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«ИТЭЛМА» (произвела замену автопилотов Cognitive Pilot на собственные).</a:t>
            </a:r>
          </a:p>
        </p:txBody>
      </p:sp>
      <p:pic>
        <p:nvPicPr>
          <p:cNvPr id="4" name="Picture 3" descr="6759b0942f4b0d75d78aa87d_Logo-p-8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3370" y="1301750"/>
            <a:ext cx="4876800" cy="1395730"/>
          </a:xfrm>
          <a:prstGeom prst="rect">
            <a:avLst/>
          </a:prstGeom>
        </p:spPr>
      </p:pic>
      <p:pic>
        <p:nvPicPr>
          <p:cNvPr id="5" name="Picture 4" descr="308b8b0b6c1d396c5bcaff5e67ba93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1580" y="2545080"/>
            <a:ext cx="3276600" cy="3276600"/>
          </a:xfrm>
          <a:prstGeom prst="rect">
            <a:avLst/>
          </a:prstGeom>
        </p:spPr>
      </p:pic>
      <p:pic>
        <p:nvPicPr>
          <p:cNvPr id="7" name="Picture 6" descr="Ростсельмаш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1695" y="5821680"/>
            <a:ext cx="7354570" cy="6921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Преимущества перед конкурентами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Их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сильные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стороны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Технология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машинного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зрения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Работа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без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GPS и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условиях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РЭБ —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уникальное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преимущество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Цена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В 3-4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раза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ниже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зарубежных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аналогов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Отечественное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производство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85%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компонентов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российские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соответствие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требованиям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импортозамещения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Сертификация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Первый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сертифицированный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РФ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поставщик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автопилотов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основе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ИИ.</a:t>
            </a:r>
          </a:p>
        </p:txBody>
      </p:sp>
      <p:pic>
        <p:nvPicPr>
          <p:cNvPr id="2050" name="Picture 2" descr="где я - Создать мем - Meme-arsenal.co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064" y="4334304"/>
            <a:ext cx="3234012" cy="214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Вызовы и риски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Что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может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помешать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?</a:t>
            </a:r>
          </a:p>
          <a:p>
            <a:pPr marL="0" indent="0">
              <a:buNone/>
            </a:pP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Геополитические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риски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Санкционное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давление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«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токсичное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происхождение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»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западных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партнеров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Конкуренция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Усиление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российских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игроков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(«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Ростсельмаш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», «ИТЭЛМА»).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Технологическая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зависимость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Несмотря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85%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локализацию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сохраняется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зависимость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от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некоторых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импортных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компонентов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Масштабируемость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Риски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связанные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с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быстрым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ростом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производства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выходом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новые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рынки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Стратегия развития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Их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приоритеты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Технологическое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лидерство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Продолжение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разработок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области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ИИ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машинного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зрения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Расширение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продуктовой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линейки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Новые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модели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роботов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сенсоров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Географическая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экспансия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Выход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рынки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Казахстана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Азербайджана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Бразилии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ЮАР,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Китая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Сервисная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модель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Развитие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сети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робо-тракторных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станций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(РТС).</a:t>
            </a:r>
          </a:p>
        </p:txBody>
      </p:sp>
      <p:pic>
        <p:nvPicPr>
          <p:cNvPr id="4" name="Picture 4" descr="Работай Мой Родненький Доходяга | TikTok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4484" y="4070908"/>
            <a:ext cx="2752725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Планы на будущее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Ближайшие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цели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IPO: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Проведение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публичного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размещения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горизонте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3-4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лет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Производство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Поставка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порядка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10 000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автономных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роботов-тракторов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ближайшие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годы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Рынок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Казахстана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Занять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15%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рынка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систем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автопилотирования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агро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за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3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года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Новые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продукты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Система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контроля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класса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зерна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(Cognitive Crop Control),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комплекс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моментального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агрономического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анализа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почвы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  <p:pic>
        <p:nvPicPr>
          <p:cNvPr id="1026" name="Picture 2" descr="Meme: &quot;Запости этот трактор в самый ожидаемый для них момент&quot; - All  Templates - Meme-arsenal.com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955" y="4170737"/>
            <a:ext cx="3446845" cy="258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Социальное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экономическое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влияние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Наш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вклад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в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развитие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Продовольственная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безопасность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Технологии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помогают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повышать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эффективность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сельского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хозяйства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Технологический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суверенитет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Развитие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отечественных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ИИ-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технологий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производств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Решение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проблемы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кадров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Автоматизация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reduces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зависимость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от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человеческого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труда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Наука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образование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Партнерство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с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инициативой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«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Десятилетие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науки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технологий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».</a:t>
            </a:r>
          </a:p>
        </p:txBody>
      </p:sp>
      <p:pic>
        <p:nvPicPr>
          <p:cNvPr id="8194" name="Picture 2" descr="Создать мем «тыкать чем-то, тыкает палкой мем» онлайн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" y="4188943"/>
            <a:ext cx="2511425" cy="251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Итоги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Cognitive Pilot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сегодня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ru-RU" altLang="en-US" dirty="0" smtClean="0"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Лидер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Один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из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ведущих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мировых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разработчиков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автономного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транспорта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Инноватор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Создает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продукты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которых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нет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на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рынке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работа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без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GPS,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мини-тракторы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Партнер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Сотрудничает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с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крупнейшими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компаниями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государственными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структурами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Перспектива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Быстрорастущий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бизнес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с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планами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IPO и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глобальной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экспансии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  <p:pic>
        <p:nvPicPr>
          <p:cNvPr id="7174" name="Picture 6" descr="Мем Губка Боб Ищет Сам Себя | TikTok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5" t="30322" r="493" b="29516"/>
          <a:stretch/>
        </p:blipFill>
        <p:spPr bwMode="auto">
          <a:xfrm>
            <a:off x="713816" y="2445545"/>
            <a:ext cx="69616" cy="63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/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69600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lt"/>
                <a:sym typeface="Arial" panose="020B0604020202020204" pitchFamily="34" charset="0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Cognitive Pilot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сегодня</a:t>
            </a:r>
            <a:endParaRPr lang="en-US" alt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altLang="en-US" dirty="0" smtClean="0"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Лидер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Один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из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ведущих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мировых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разработчиков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ИИ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автономного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транспорта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Инноватор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Создает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продукты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которых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нет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на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рынке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работа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без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GPS,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мини-тракторы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Партнер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Сотрудничает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с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крупнейшими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компаниями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государственными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структурами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Перспектива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Быстрорастущий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бизнес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с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планами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IPO и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глобальной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 smtClean="0">
                <a:latin typeface="Times New Roman" panose="02020603050405020304" charset="0"/>
                <a:cs typeface="Times New Roman" panose="02020603050405020304" charset="0"/>
              </a:rPr>
              <a:t>экспансии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6" descr="Мем Губка Боб Ищет Сам Себя | TikTok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5" t="30322" r="493" b="29516"/>
          <a:stretch/>
        </p:blipFill>
        <p:spPr bwMode="auto">
          <a:xfrm>
            <a:off x="713856" y="2445545"/>
            <a:ext cx="69616" cy="63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"/>
          <p:cNvSpPr>
            <a:spLocks noGrp="1"/>
          </p:cNvSpPr>
          <p:nvPr>
            <p:ph type="subTitle" idx="4294967295"/>
            <p:custDataLst>
              <p:tags r:id="rId2"/>
            </p:custDataLst>
          </p:nvPr>
        </p:nvSpPr>
        <p:spPr>
          <a:xfrm>
            <a:off x="2921635" y="3599815"/>
            <a:ext cx="6348730" cy="972185"/>
          </a:xfrm>
        </p:spPr>
        <p:txBody>
          <a:bodyPr/>
          <a:lstStyle/>
          <a:p>
            <a:r>
              <a:rPr lang="en-US">
                <a:noFill/>
              </a:rPr>
              <a:t>Thank you</a:t>
            </a:r>
          </a:p>
        </p:txBody>
      </p:sp>
      <p:pic>
        <p:nvPicPr>
          <p:cNvPr id="6146" name="Picture 2" descr="Если у вас есть вопросы, оставьте их при себе, я вам не гугл - Memchik.ru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773" y="1277006"/>
            <a:ext cx="5671647" cy="425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TYPE" val="i"/>
  <p:tag name="KSO_WM_UNIT_INDEX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UNIT_TYPE" val="i"/>
  <p:tag name="KSO_WM_UNIT_INDEX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801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598"/>
  <p:tag name="KSO_WM_TEMPLATE_CATEGORY" val="custom"/>
  <p:tag name="KSO_WM_TEMPLATE_INDEX" val="2023801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19"/>
  <p:tag name="KSO_WM_SPECIAL_SOURCE" val="bdnull"/>
  <p:tag name="KSO_WM_TEMPLATE_THUMBS_INDEX" val="1、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UNIT_TYPE" val="i"/>
  <p:tag name="KSO_WM_UNIT_INDEX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5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1"/>
  <p:tag name="KSO_WM_UNIT_TYPE" val="f"/>
  <p:tag name="KSO_WM_UNIT_INDEX" val="5"/>
  <p:tag name="KSO_WM_UNIT_SUBTYPE" val="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UNIT_TYPE" val="i"/>
  <p:tag name="KSO_WM_UNIT_INDEX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UNIT_TYPE" val="i"/>
  <p:tag name="KSO_WM_UNIT_INDEX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UNIT_TYPE" val="i"/>
  <p:tag name="KSO_WM_UNIT_INDEX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UNIT_TYPE" val="i"/>
  <p:tag name="KSO_WM_UNIT_INDEX" val="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UNIT_TYPE" val="i"/>
  <p:tag name="KSO_WM_UNIT_INDEX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UNIT_TYPE" val="i"/>
  <p:tag name="KSO_WM_UNIT_INDEX" val="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PRESET_TEXT" val="添加副标题"/>
  <p:tag name="KSO_WM_UNIT_NOCLEAR" val="0"/>
  <p:tag name="KSO_WM_UNIT_TYPE" val="b"/>
  <p:tag name="KSO_WM_UNIT_INDEX" val="1"/>
  <p:tag name="KSO_WM_UNIT_ISCONTENTSTITLE" val="0"/>
  <p:tag name="KSO_WM_UNIT_ISNUMDGMTITLE" val="0"/>
  <p:tag name="KSO_WM_UNIT_VALUE" val="2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TYPE" val="i"/>
  <p:tag name="KSO_WM_UNIT_INDEX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27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2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TYPE" val="i"/>
  <p:tag name="KSO_WM_UNIT_INDEX" val="8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801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19"/>
  <p:tag name="KSO_WM_SLIDE_LAYOUT" val="a_b_f"/>
  <p:tag name="KSO_WM_SLIDE_LAYOUT_CNT" val="1_1_2"/>
  <p:tag name="KSO_WM_SLIDE_TYPE" val="title"/>
  <p:tag name="KSO_WM_SLIDE_SUBTYPE" val="pureTxt"/>
  <p:tag name="KSO_WM_SPECIAL_SOURCE" val="bdnull"/>
  <p:tag name="KSO_WM_TEMPLATE_THUMBS_INDEX" val="1、9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019_1*b*1"/>
  <p:tag name="KSO_WM_TEMPLATE_CATEGORY" val="custom"/>
  <p:tag name="KSO_WM_TEMPLATE_INDEX" val="20238019"/>
  <p:tag name="KSO_WM_UNIT_LAYERLEVEL" val="1"/>
  <p:tag name="KSO_WM_TAG_VERSION" val="3.0"/>
  <p:tag name="KSO_WM_BEAUTIFY_FLAG" val="#wm#"/>
  <p:tag name="KSO_WM_UNIT_TEXT_FILL_FORE_SCHEMECOLOR_INDEX_BRIGHTNESS" val="0.4"/>
  <p:tag name="KSO_WM_UNIT_TEXT_FILL_FORE_SCHEMECOLOR_INDEX" val="13"/>
  <p:tag name="KSO_WM_UNIT_TEXT_FILL_TYPE" val="1"/>
  <p:tag name="KSO_WM_UNIT_PRESET_TEXT" val="Add description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19_1*f*4"/>
  <p:tag name="KSO_WM_TEMPLATE_CATEGORY" val="custom"/>
  <p:tag name="KSO_WM_TEMPLATE_INDEX" val="20238019"/>
  <p:tag name="KSO_WM_UNIT_LAYERLEVEL" val="1"/>
  <p:tag name="KSO_WM_TAG_VERSION" val="3.0"/>
  <p:tag name="KSO_WM_BEAUTIFY_FLAG" val="#wm#"/>
  <p:tag name="KSO_WM_UNIT_FILL_FORE_SCHEMECOLOR_INDEX_1_BRIGHTNESS" val="0"/>
  <p:tag name="KSO_WM_UNIT_FILL_FORE_SCHEMECOLOR_INDEX_1" val="5"/>
  <p:tag name="KSO_WM_UNIT_FILL_FORE_SCHEMECOLOR_INDEX_1_POS" val="0.67"/>
  <p:tag name="KSO_WM_UNIT_FILL_FORE_SCHEMECOLOR_INDEX_1_TRANS" val="0"/>
  <p:tag name="KSO_WM_UNIT_FILL_FORE_SCHEMECOLOR_INDEX_2_BRIGHTNESS" val="0.4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TEXT_FILL_FORE_SCHEMECOLOR_INDEX_BRIGHTNESS" val="0"/>
  <p:tag name="KSO_WM_UNIT_TEXT_FILL_FORE_SCHEMECOLOR_INDEX" val="14"/>
  <p:tag name="KSO_WM_UNIT_TEXT_FILL_TYPE" val="1"/>
  <p:tag name="KSO_WM_UNIT_PRESET_TEXT" val="Nam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19_1*a*1"/>
  <p:tag name="KSO_WM_TEMPLATE_CATEGORY" val="custom"/>
  <p:tag name="KSO_WM_TEMPLATE_INDEX" val="20238019"/>
  <p:tag name="KSO_WM_UNIT_LAYERLEVEL" val="1"/>
  <p:tag name="KSO_WM_TAG_VERSION" val="3.0"/>
  <p:tag name="KSO_WM_BEAUTIFY_FLAG" val="#wm#"/>
  <p:tag name="KSO_WM_UNIT_PRESET_TEXT" val="The title goes her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019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8019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8019"/>
  <p:tag name="KSO_WM_SLIDE_TYPE" val="endPage"/>
  <p:tag name="KSO_WM_SLIDE_SUBTYPE" val="pureTxt"/>
  <p:tag name="KSO_WM_SLIDE_LAYOUT" val="a_b"/>
  <p:tag name="KSO_WM_SLIDE_LAYOUT_CNT" val="1_1"/>
  <p:tag name="KSO_WM_SPECIAL_SOURCE" val="bdnull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19_9*b*1"/>
  <p:tag name="KSO_WM_TEMPLATE_CATEGORY" val="custom"/>
  <p:tag name="KSO_WM_TEMPLATE_INDEX" val="202380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80"/>
  <p:tag name="KSO_WM_UNIT_TYPE" val="b"/>
  <p:tag name="KSO_WM_UNIT_INDEX" val="1"/>
  <p:tag name="KSO_WM_UNIT_PRESET_TEXT" val="Thank you"/>
</p:tagLst>
</file>

<file path=ppt/theme/theme1.xml><?xml version="1.0" encoding="utf-8"?>
<a:theme xmlns:a="http://schemas.openxmlformats.org/drawingml/2006/main" name="Office Theme">
  <a:themeElements>
    <a:clrScheme name="紫色商务">
      <a:dk1>
        <a:srgbClr val="333333"/>
      </a:dk1>
      <a:lt1>
        <a:srgbClr val="FFFFFF"/>
      </a:lt1>
      <a:dk2>
        <a:srgbClr val="1A0C1E"/>
      </a:dk2>
      <a:lt2>
        <a:srgbClr val="F7EDFD"/>
      </a:lt2>
      <a:accent1>
        <a:srgbClr val="7022E2"/>
      </a:accent1>
      <a:accent2>
        <a:srgbClr val="DC6FFB"/>
      </a:accent2>
      <a:accent3>
        <a:srgbClr val="2F43FF"/>
      </a:accent3>
      <a:accent4>
        <a:srgbClr val="BF45AE"/>
      </a:accent4>
      <a:accent5>
        <a:srgbClr val="AB7859"/>
      </a:accent5>
      <a:accent6>
        <a:srgbClr val="A239ED"/>
      </a:accent6>
      <a:hlink>
        <a:srgbClr val="0563C1"/>
      </a:hlink>
      <a:folHlink>
        <a:srgbClr val="954F72"/>
      </a:folHlink>
    </a:clrScheme>
    <a:fontScheme name="Nunito Sans组合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1682</Words>
  <Application>Microsoft Office PowerPoint</Application>
  <PresentationFormat>Широкоэкранный</PresentationFormat>
  <Paragraphs>210</Paragraphs>
  <Slides>30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7" baseType="lpstr">
      <vt:lpstr>Arial</vt:lpstr>
      <vt:lpstr>Calibri</vt:lpstr>
      <vt:lpstr>Nunito Sans</vt:lpstr>
      <vt:lpstr>Nunito Sans ExtraBold</vt:lpstr>
      <vt:lpstr>Times New Roman</vt:lpstr>
      <vt:lpstr>Wingdings</vt:lpstr>
      <vt:lpstr>Office Theme</vt:lpstr>
      <vt:lpstr>Cognitive Pilot: Лидер в области ИИ для автономного транспорта</vt:lpstr>
      <vt:lpstr>Содержание</vt:lpstr>
      <vt:lpstr>Профиль компании</vt:lpstr>
      <vt:lpstr>Миссия и ценности</vt:lpstr>
      <vt:lpstr>Ключевой продукт: Cognitive Agro Pilot</vt:lpstr>
      <vt:lpstr>Ключевой продукт: Cognitive Tram Pilot</vt:lpstr>
      <vt:lpstr>Ключевой продукт: Робот СИ-ПИ</vt:lpstr>
      <vt:lpstr>Ключевой продукт: Беспилотный мини-трактор</vt:lpstr>
      <vt:lpstr>Дополнительные продукты</vt:lpstr>
      <vt:lpstr>Технологическое преимущество</vt:lpstr>
      <vt:lpstr>Рыночные позиции (Мировые рейтинги)</vt:lpstr>
      <vt:lpstr>Сравнение с конкурентами</vt:lpstr>
      <vt:lpstr>Экономический эффект для клиентов</vt:lpstr>
      <vt:lpstr>География присутствия</vt:lpstr>
      <vt:lpstr>Ключевые партнеры</vt:lpstr>
      <vt:lpstr>Проекты и кейсы (2025-2026)</vt:lpstr>
      <vt:lpstr>Новости и достижения (2025)</vt:lpstr>
      <vt:lpstr>Новости и достижения (2026)</vt:lpstr>
      <vt:lpstr>Производство</vt:lpstr>
      <vt:lpstr>Финансирование и инвестиции</vt:lpstr>
      <vt:lpstr>Бизнес-модель</vt:lpstr>
      <vt:lpstr>Команда и руководство</vt:lpstr>
      <vt:lpstr>Конкурентная среда</vt:lpstr>
      <vt:lpstr>Преимущества перед конкурентами</vt:lpstr>
      <vt:lpstr>Вызовы и риски</vt:lpstr>
      <vt:lpstr>Стратегия развития</vt:lpstr>
      <vt:lpstr>Планы на будущее</vt:lpstr>
      <vt:lpstr>Социальное и экономическое влияние</vt:lpstr>
      <vt:lpstr>Итоги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Cognitive Pilot: Лидер в области ИИ для автономного транспорта</dc:title>
  <dc:creator>admin</dc:creator>
  <cp:lastModifiedBy>5</cp:lastModifiedBy>
  <cp:revision>40</cp:revision>
  <dcterms:created xsi:type="dcterms:W3CDTF">2026-09-20T15:22:00Z</dcterms:created>
  <dcterms:modified xsi:type="dcterms:W3CDTF">2026-09-21T08:40:20Z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03FDCC8FAAE746189A062560BD601D1F_11</vt:lpwstr>
  </property>
</Properties>
</file>